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Urbanist" panose="020B0604020202020204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61F24C4-8274-4C45-9D1B-C6E70FB66723}">
  <a:tblStyle styleId="{361F24C4-8274-4C45-9D1B-C6E70FB6672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2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2.png"/><Relationship Id="rId4" Type="http://schemas.openxmlformats.org/officeDocument/2006/relationships/image" Target="../media/image3.png"/><Relationship Id="rId9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1771650"/>
            <a:ext cx="11601450" cy="203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Assessment 3 - Advanced Machine Learning Analysis</a:t>
            </a:r>
            <a:endParaRPr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1857375" y="3638550"/>
            <a:ext cx="84772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ITEC613: Classifying Fashion-MNIST &amp; Predicting California Housing Prices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172075" y="4514850"/>
            <a:ext cx="18478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Emmanuel Orunta</a:t>
            </a:r>
            <a:endParaRPr/>
          </a:p>
        </p:txBody>
      </p:sp>
      <p:pic>
        <p:nvPicPr>
          <p:cNvPr id="2" name="object 5">
            <a:extLst>
              <a:ext uri="{FF2B5EF4-FFF2-40B4-BE49-F238E27FC236}">
                <a16:creationId xmlns:a16="http://schemas.microsoft.com/office/drawing/2014/main" id="{6E5CC712-9D58-B1FE-72EF-482DF01F2CF1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08538" y="415290"/>
            <a:ext cx="1374648" cy="8077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/>
          <p:nvPr/>
        </p:nvSpPr>
        <p:spPr>
          <a:xfrm>
            <a:off x="571500" y="2379464"/>
            <a:ext cx="1428750" cy="5715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571500" y="2722364"/>
            <a:ext cx="11471433" cy="819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Part 1: Fashion-MNIST Classification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571500" y="3732014"/>
            <a:ext cx="7620000" cy="746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Objective: To build and compare advanced classifiers to accurately identify 10 classes of fashion items.</a:t>
            </a:r>
            <a:endParaRPr/>
          </a:p>
        </p:txBody>
      </p:sp>
      <p:pic>
        <p:nvPicPr>
          <p:cNvPr id="2" name="object 5">
            <a:extLst>
              <a:ext uri="{FF2B5EF4-FFF2-40B4-BE49-F238E27FC236}">
                <a16:creationId xmlns:a16="http://schemas.microsoft.com/office/drawing/2014/main" id="{BBCA1623-756C-62CE-BCDE-095F1103FF8A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151977" y="412957"/>
            <a:ext cx="1374648" cy="8077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62175"/>
            <a:ext cx="3429000" cy="346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81500" y="2162175"/>
            <a:ext cx="3429000" cy="346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91500" y="2162175"/>
            <a:ext cx="3429000" cy="3467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 txBox="1"/>
          <p:nvPr/>
        </p:nvSpPr>
        <p:spPr>
          <a:xfrm>
            <a:off x="866775" y="3152775"/>
            <a:ext cx="164020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Split &amp; Stratify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866775" y="3714750"/>
            <a:ext cx="283845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Data split into `emmanuel_train` (80%) and `orunta_test` (20%) using `random_state=57` to ensure reproducible results.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4676775" y="3152775"/>
            <a:ext cx="190023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Standard Scaling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4676775" y="3714750"/>
            <a:ext cx="283845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Normalized all 784 pixel features (Z-score) to ensure models like KNN and SVM were not biased by pixel intensity.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8486775" y="3152775"/>
            <a:ext cx="1610201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PCA Reduction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8486775" y="3714750"/>
            <a:ext cx="2838450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Applied Principal Component Analysis (PCA), reducing 784 features down to 256 components while retaining 95% of the data's variance.</a:t>
            </a:r>
            <a:endParaRPr/>
          </a:p>
        </p:txBody>
      </p:sp>
      <p:pic>
        <p:nvPicPr>
          <p:cNvPr id="110" name="Google Shape;110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248602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76775" y="2486025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86775" y="2486025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Methodology: Data Preparation</a:t>
            </a:r>
            <a:endParaRPr/>
          </a:p>
        </p:txBody>
      </p:sp>
      <p:pic>
        <p:nvPicPr>
          <p:cNvPr id="2" name="object 5">
            <a:extLst>
              <a:ext uri="{FF2B5EF4-FFF2-40B4-BE49-F238E27FC236}">
                <a16:creationId xmlns:a16="http://schemas.microsoft.com/office/drawing/2014/main" id="{2764546E-9D8A-38A8-2E07-08BBC9DE8271}"/>
              </a:ext>
            </a:extLst>
          </p:cNvPr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0096976" y="316230"/>
            <a:ext cx="1374648" cy="8077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6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Finding: SVM Outperforms DNN &amp; KNN</a:t>
            </a:r>
            <a:endParaRPr/>
          </a:p>
        </p:txBody>
      </p:sp>
      <p:pic>
        <p:nvPicPr>
          <p:cNvPr id="2" name="object 5">
            <a:extLst>
              <a:ext uri="{FF2B5EF4-FFF2-40B4-BE49-F238E27FC236}">
                <a16:creationId xmlns:a16="http://schemas.microsoft.com/office/drawing/2014/main" id="{64F3313D-D466-10A3-C3D4-DBBBB61133E1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139553" y="316230"/>
            <a:ext cx="1374648" cy="8077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5" name="Google Shape;125;p17"/>
          <p:cNvGraphicFramePr/>
          <p:nvPr>
            <p:extLst>
              <p:ext uri="{D42A27DB-BD31-4B8C-83A1-F6EECF244321}">
                <p14:modId xmlns:p14="http://schemas.microsoft.com/office/powerpoint/2010/main" val="597474948"/>
              </p:ext>
            </p:extLst>
          </p:nvPr>
        </p:nvGraphicFramePr>
        <p:xfrm>
          <a:off x="571500" y="2624137"/>
          <a:ext cx="11049000" cy="2543200"/>
        </p:xfrm>
        <a:graphic>
          <a:graphicData uri="http://schemas.openxmlformats.org/drawingml/2006/table">
            <a:tbl>
              <a:tblPr firstRow="1" bandRow="1">
                <a:noFill/>
                <a:tableStyleId>{361F24C4-8274-4C45-9D1B-C6E70FB66723}</a:tableStyleId>
              </a:tblPr>
              <a:tblGrid>
                <a:gridCol w="3730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7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24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16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35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BEF264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Model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BEF264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Accuracy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BEF264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F1_Macro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BEF264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Time_Train_Sec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5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SVM (RBF) Optimized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0.9079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0.9073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414.4s</a:t>
                      </a:r>
                      <a:endParaRPr b="0"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5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DNN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>
                          <a:solidFill>
                            <a:srgbClr val="F1F5F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0.8878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>
                          <a:solidFill>
                            <a:srgbClr val="F1F5F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0.8859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114.2s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5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KNN (k=10)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0.8587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0.8584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110.2s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6" name="Google Shape;126;p17"/>
          <p:cNvSpPr/>
          <p:nvPr/>
        </p:nvSpPr>
        <p:spPr>
          <a:xfrm>
            <a:off x="571500" y="3248025"/>
            <a:ext cx="373007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7"/>
          <p:cNvSpPr/>
          <p:nvPr/>
        </p:nvSpPr>
        <p:spPr>
          <a:xfrm>
            <a:off x="4301579" y="3248025"/>
            <a:ext cx="207749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7"/>
          <p:cNvSpPr/>
          <p:nvPr/>
        </p:nvSpPr>
        <p:spPr>
          <a:xfrm>
            <a:off x="6379071" y="3248025"/>
            <a:ext cx="212467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7"/>
          <p:cNvSpPr/>
          <p:nvPr/>
        </p:nvSpPr>
        <p:spPr>
          <a:xfrm>
            <a:off x="8503741" y="3248025"/>
            <a:ext cx="311675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7"/>
          <p:cNvSpPr/>
          <p:nvPr/>
        </p:nvSpPr>
        <p:spPr>
          <a:xfrm>
            <a:off x="571500" y="3886200"/>
            <a:ext cx="373007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7"/>
          <p:cNvSpPr/>
          <p:nvPr/>
        </p:nvSpPr>
        <p:spPr>
          <a:xfrm>
            <a:off x="4301579" y="3886200"/>
            <a:ext cx="207749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7"/>
          <p:cNvSpPr/>
          <p:nvPr/>
        </p:nvSpPr>
        <p:spPr>
          <a:xfrm>
            <a:off x="6379071" y="3886200"/>
            <a:ext cx="212467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7"/>
          <p:cNvSpPr/>
          <p:nvPr/>
        </p:nvSpPr>
        <p:spPr>
          <a:xfrm>
            <a:off x="8503741" y="3886200"/>
            <a:ext cx="311675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7"/>
          <p:cNvSpPr/>
          <p:nvPr/>
        </p:nvSpPr>
        <p:spPr>
          <a:xfrm>
            <a:off x="571500" y="4524375"/>
            <a:ext cx="373007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7"/>
          <p:cNvSpPr/>
          <p:nvPr/>
        </p:nvSpPr>
        <p:spPr>
          <a:xfrm>
            <a:off x="4301579" y="4524375"/>
            <a:ext cx="207749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7"/>
          <p:cNvSpPr/>
          <p:nvPr/>
        </p:nvSpPr>
        <p:spPr>
          <a:xfrm>
            <a:off x="6379071" y="4524375"/>
            <a:ext cx="212467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7"/>
          <p:cNvSpPr/>
          <p:nvPr/>
        </p:nvSpPr>
        <p:spPr>
          <a:xfrm>
            <a:off x="8503741" y="4524375"/>
            <a:ext cx="311675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7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Performance Deep Dive: Accuracy vs. Cost</a:t>
            </a:r>
            <a:endParaRPr/>
          </a:p>
        </p:txBody>
      </p:sp>
      <p:pic>
        <p:nvPicPr>
          <p:cNvPr id="2" name="object 5">
            <a:extLst>
              <a:ext uri="{FF2B5EF4-FFF2-40B4-BE49-F238E27FC236}">
                <a16:creationId xmlns:a16="http://schemas.microsoft.com/office/drawing/2014/main" id="{2BA3A687-B29A-6B9C-A77E-247898C3269D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45851" y="443865"/>
            <a:ext cx="1374648" cy="8077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62175"/>
            <a:ext cx="3429000" cy="346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81500" y="2162175"/>
            <a:ext cx="3429000" cy="346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91500" y="2162175"/>
            <a:ext cx="3429000" cy="3467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8"/>
          <p:cNvSpPr txBox="1"/>
          <p:nvPr/>
        </p:nvSpPr>
        <p:spPr>
          <a:xfrm>
            <a:off x="866775" y="3152775"/>
            <a:ext cx="1590198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Fairness &amp; Bias</a:t>
            </a:r>
            <a:endParaRPr/>
          </a:p>
        </p:txBody>
      </p:sp>
      <p:sp>
        <p:nvSpPr>
          <p:cNvPr id="148" name="Google Shape;148;p18"/>
          <p:cNvSpPr txBox="1"/>
          <p:nvPr/>
        </p:nvSpPr>
        <p:spPr>
          <a:xfrm>
            <a:off x="866775" y="3714750"/>
            <a:ext cx="2838450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Models trained on biased data (e.g., only Western attire) will fail on underrepresented groups. This impacts fairness and alienates customer segments.</a:t>
            </a:r>
            <a:endParaRPr/>
          </a:p>
        </p:txBody>
      </p:sp>
      <p:sp>
        <p:nvSpPr>
          <p:cNvPr id="149" name="Google Shape;149;p18"/>
          <p:cNvSpPr txBox="1"/>
          <p:nvPr/>
        </p:nvSpPr>
        <p:spPr>
          <a:xfrm>
            <a:off x="4676775" y="3152775"/>
            <a:ext cx="1570196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Accountability</a:t>
            </a:r>
            <a:endParaRPr/>
          </a:p>
        </p:txBody>
      </p:sp>
      <p:sp>
        <p:nvSpPr>
          <p:cNvPr id="150" name="Google Shape;150;p18"/>
          <p:cNvSpPr txBox="1"/>
          <p:nvPr/>
        </p:nvSpPr>
        <p:spPr>
          <a:xfrm>
            <a:off x="4676775" y="3714750"/>
            <a:ext cx="2838450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The 'black-box' nature of SVMs and DNNs makes errors hard to trace. We must implement model governance and human-in-the-loop (HITL) review.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8486774" y="3152775"/>
            <a:ext cx="159990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Transparency</a:t>
            </a:r>
            <a:endParaRPr dirty="0"/>
          </a:p>
        </p:txBody>
      </p:sp>
      <p:sp>
        <p:nvSpPr>
          <p:cNvPr id="152" name="Google Shape;152;p18"/>
          <p:cNvSpPr txBox="1"/>
          <p:nvPr/>
        </p:nvSpPr>
        <p:spPr>
          <a:xfrm>
            <a:off x="8486775" y="3714750"/>
            <a:ext cx="2838450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To trust the model, we must use techniques like SHAP or LIME to explain *why* a prediction was made, moving beyond just the accuracy score.</a:t>
            </a:r>
            <a:endParaRPr/>
          </a:p>
        </p:txBody>
      </p:sp>
      <p:pic>
        <p:nvPicPr>
          <p:cNvPr id="153" name="Google Shape;153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2486025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76775" y="248602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86775" y="2486025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8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Ethical &amp; Strategic Implications</a:t>
            </a:r>
            <a:endParaRPr/>
          </a:p>
        </p:txBody>
      </p:sp>
      <p:pic>
        <p:nvPicPr>
          <p:cNvPr id="2" name="object 5">
            <a:extLst>
              <a:ext uri="{FF2B5EF4-FFF2-40B4-BE49-F238E27FC236}">
                <a16:creationId xmlns:a16="http://schemas.microsoft.com/office/drawing/2014/main" id="{F0552EC1-D7BC-6C59-A67B-89AD46B1BCB9}"/>
              </a:ext>
            </a:extLst>
          </p:cNvPr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0086679" y="285750"/>
            <a:ext cx="1374648" cy="8077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/>
          <p:nvPr/>
        </p:nvSpPr>
        <p:spPr>
          <a:xfrm>
            <a:off x="571500" y="1969889"/>
            <a:ext cx="1428750" cy="57150"/>
          </a:xfrm>
          <a:prstGeom prst="rect">
            <a:avLst/>
          </a:prstGeom>
          <a:solidFill>
            <a:srgbClr val="BEF26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>
            <a:off x="571500" y="2312789"/>
            <a:ext cx="11601450" cy="16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Part 2: California Housing Regression</a:t>
            </a:r>
            <a:endParaRPr/>
          </a:p>
        </p:txBody>
      </p:sp>
      <p:sp>
        <p:nvSpPr>
          <p:cNvPr id="164" name="Google Shape;164;p19"/>
          <p:cNvSpPr txBox="1"/>
          <p:nvPr/>
        </p:nvSpPr>
        <p:spPr>
          <a:xfrm>
            <a:off x="571500" y="4141589"/>
            <a:ext cx="7620000" cy="746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Objective: To predict housing prices and analyze model complexity, regularization, and overfitting.</a:t>
            </a:r>
            <a:endParaRPr/>
          </a:p>
        </p:txBody>
      </p:sp>
      <p:pic>
        <p:nvPicPr>
          <p:cNvPr id="2" name="object 5">
            <a:extLst>
              <a:ext uri="{FF2B5EF4-FFF2-40B4-BE49-F238E27FC236}">
                <a16:creationId xmlns:a16="http://schemas.microsoft.com/office/drawing/2014/main" id="{D0B24896-608C-A04B-0BC2-11704D2BD82D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180257" y="422384"/>
            <a:ext cx="1374648" cy="8077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0"/>
          <p:cNvSpPr txBox="1"/>
          <p:nvPr/>
        </p:nvSpPr>
        <p:spPr>
          <a:xfrm>
            <a:off x="571500" y="571500"/>
            <a:ext cx="5550693" cy="11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Finding: All Linear Models are Flawed</a:t>
            </a:r>
            <a:endParaRPr/>
          </a:p>
        </p:txBody>
      </p:sp>
      <p:sp>
        <p:nvSpPr>
          <p:cNvPr id="172" name="Google Shape;172;p20"/>
          <p:cNvSpPr txBox="1"/>
          <p:nvPr/>
        </p:nvSpPr>
        <p:spPr>
          <a:xfrm>
            <a:off x="571500" y="2074664"/>
            <a:ext cx="555069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Model Comparison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571500" y="2665214"/>
            <a:ext cx="52863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We applied three linear models. Regularization (Ridge/Lasso) provided a minor performance boost over standard Linear Regression.</a:t>
            </a:r>
            <a:endParaRPr/>
          </a:p>
        </p:txBody>
      </p:sp>
      <p:sp>
        <p:nvSpPr>
          <p:cNvPr id="174" name="Google Shape;174;p20"/>
          <p:cNvSpPr txBox="1"/>
          <p:nvPr/>
        </p:nvSpPr>
        <p:spPr>
          <a:xfrm>
            <a:off x="571500" y="3556694"/>
            <a:ext cx="555069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Key Finding: Residual Analysis</a:t>
            </a:r>
            <a:endParaRPr/>
          </a:p>
        </p:txBody>
      </p:sp>
      <p:sp>
        <p:nvSpPr>
          <p:cNvPr id="175" name="Google Shape;175;p20"/>
          <p:cNvSpPr txBox="1"/>
          <p:nvPr/>
        </p:nvSpPr>
        <p:spPr>
          <a:xfrm>
            <a:off x="571500" y="4147244"/>
            <a:ext cx="5286375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The residual plot (right) shows a clear </a:t>
            </a:r>
            <a:r>
              <a:rPr lang="en-US" sz="135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funnel shape (heteroscedasticity)</a:t>
            </a: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 This means our models are systematically flawed: they are confident on cheap homes but have high error on expensive ones.</a:t>
            </a:r>
            <a:endParaRPr/>
          </a:p>
        </p:txBody>
      </p:sp>
      <p:sp>
        <p:nvSpPr>
          <p:cNvPr id="176" name="Google Shape;176;p20"/>
          <p:cNvSpPr txBox="1"/>
          <p:nvPr/>
        </p:nvSpPr>
        <p:spPr>
          <a:xfrm>
            <a:off x="571500" y="5568255"/>
            <a:ext cx="52863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This violates a core assumption of linear regression and indicates a non-linear problem.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6A002DC-32A6-B5C0-725B-1D43772FF6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470582"/>
            <a:ext cx="5791200" cy="4646254"/>
          </a:xfrm>
          <a:prstGeom prst="rect">
            <a:avLst/>
          </a:prstGeom>
        </p:spPr>
      </p:pic>
      <p:pic>
        <p:nvPicPr>
          <p:cNvPr id="4" name="object 5">
            <a:extLst>
              <a:ext uri="{FF2B5EF4-FFF2-40B4-BE49-F238E27FC236}">
                <a16:creationId xmlns:a16="http://schemas.microsoft.com/office/drawing/2014/main" id="{30A0213F-A629-9678-3843-418836B077EB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321660" y="337304"/>
            <a:ext cx="1374648" cy="8077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1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Key Insight: The Overfitting "Cliff"</a:t>
            </a:r>
            <a:endParaRPr/>
          </a:p>
        </p:txBody>
      </p:sp>
      <p:pic>
        <p:nvPicPr>
          <p:cNvPr id="2" name="object 5">
            <a:extLst>
              <a:ext uri="{FF2B5EF4-FFF2-40B4-BE49-F238E27FC236}">
                <a16:creationId xmlns:a16="http://schemas.microsoft.com/office/drawing/2014/main" id="{2BD7A3EF-F422-68CA-5065-184783B4DA37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453242" y="443865"/>
            <a:ext cx="1374648" cy="8077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2"/>
          <p:cNvSpPr txBox="1"/>
          <p:nvPr/>
        </p:nvSpPr>
        <p:spPr>
          <a:xfrm>
            <a:off x="1762125" y="2219325"/>
            <a:ext cx="909637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Highest Accuracy Isn't Always Best: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The SVM model was the most accurate but took 4x longer to train. For applications needing frequent re-training, the DNN offers a better balance of speed and performance.</a:t>
            </a:r>
            <a:endParaRPr/>
          </a:p>
        </p:txBody>
      </p:sp>
      <p:sp>
        <p:nvSpPr>
          <p:cNvPr id="189" name="Google Shape;189;p22"/>
          <p:cNvSpPr txBox="1"/>
          <p:nvPr/>
        </p:nvSpPr>
        <p:spPr>
          <a:xfrm>
            <a:off x="1762125" y="3057525"/>
            <a:ext cx="909637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Always Validate Model Assumptions: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The Regression R-squared scores looked acceptable (0.67), but the residual plots showed the models are unreliable. Analysis must go deeper than just the metrics.</a:t>
            </a:r>
            <a:endParaRPr/>
          </a:p>
        </p:txBody>
      </p:sp>
      <p:sp>
        <p:nvSpPr>
          <p:cNvPr id="190" name="Google Shape;190;p22"/>
          <p:cNvSpPr txBox="1"/>
          <p:nvPr/>
        </p:nvSpPr>
        <p:spPr>
          <a:xfrm>
            <a:off x="1762125" y="3895725"/>
            <a:ext cx="909637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Complexity Must Be Justified: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Our polynomial regression analysis proved that a more complex model (Degree 3) can be significantly *worse* than a simpler one (Degree 2) if it leads to overfitting.</a:t>
            </a:r>
            <a:endParaRPr/>
          </a:p>
        </p:txBody>
      </p:sp>
      <p:sp>
        <p:nvSpPr>
          <p:cNvPr id="191" name="Google Shape;191;p22"/>
          <p:cNvSpPr txBox="1"/>
          <p:nvPr/>
        </p:nvSpPr>
        <p:spPr>
          <a:xfrm>
            <a:off x="1762125" y="4733925"/>
            <a:ext cx="909637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Use the Right Tool for the Job: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For the image task, a </a:t>
            </a:r>
            <a:r>
              <a:rPr lang="en-US" sz="1500" b="1" i="0" u="none" strike="noStrike" cap="non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Convolutional Neural Network (CNN)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would be the correct state-of-the-art approach, likely surpassing all models.</a:t>
            </a:r>
            <a:endParaRPr/>
          </a:p>
        </p:txBody>
      </p:sp>
      <p:pic>
        <p:nvPicPr>
          <p:cNvPr id="192" name="Google Shape;192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33500" y="2266950"/>
            <a:ext cx="28575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33500" y="3105150"/>
            <a:ext cx="28575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333500" y="3943350"/>
            <a:ext cx="28575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333500" y="4781550"/>
            <a:ext cx="28575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2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Strategic Insights &amp; Recommendations</a:t>
            </a:r>
            <a:endParaRPr/>
          </a:p>
        </p:txBody>
      </p:sp>
      <p:pic>
        <p:nvPicPr>
          <p:cNvPr id="2" name="object 5">
            <a:extLst>
              <a:ext uri="{FF2B5EF4-FFF2-40B4-BE49-F238E27FC236}">
                <a16:creationId xmlns:a16="http://schemas.microsoft.com/office/drawing/2014/main" id="{EA26891D-8D65-BA60-E59B-90D44FB308C1}"/>
              </a:ext>
            </a:extLst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491341" y="507673"/>
            <a:ext cx="1374648" cy="8077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3"/>
          <p:cNvSpPr txBox="1"/>
          <p:nvPr/>
        </p:nvSpPr>
        <p:spPr>
          <a:xfrm>
            <a:off x="1600200" y="2081212"/>
            <a:ext cx="9467850" cy="21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A comprehensive, multi-model analysis is essential. The 'best' model is not just the one with the highest accuracy, but the one that balances performance, cost, and real-world reliability.</a:t>
            </a:r>
            <a:endParaRPr/>
          </a:p>
        </p:txBody>
      </p:sp>
      <p:sp>
        <p:nvSpPr>
          <p:cNvPr id="203" name="Google Shape;203;p23"/>
          <p:cNvSpPr/>
          <p:nvPr/>
        </p:nvSpPr>
        <p:spPr>
          <a:xfrm>
            <a:off x="1123950" y="2081212"/>
            <a:ext cx="47625" cy="21336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3"/>
          <p:cNvSpPr txBox="1"/>
          <p:nvPr/>
        </p:nvSpPr>
        <p:spPr>
          <a:xfrm>
            <a:off x="1600200" y="4755086"/>
            <a:ext cx="220027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— Emmanuel Orunta</a:t>
            </a:r>
            <a:endParaRPr dirty="0"/>
          </a:p>
        </p:txBody>
      </p:sp>
      <p:pic>
        <p:nvPicPr>
          <p:cNvPr id="2" name="object 5">
            <a:extLst>
              <a:ext uri="{FF2B5EF4-FFF2-40B4-BE49-F238E27FC236}">
                <a16:creationId xmlns:a16="http://schemas.microsoft.com/office/drawing/2014/main" id="{51719105-4375-21DE-1A54-4FE80C96BFA5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65098" y="544932"/>
            <a:ext cx="1374648" cy="8077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4"/>
          <p:cNvSpPr txBox="1"/>
          <p:nvPr/>
        </p:nvSpPr>
        <p:spPr>
          <a:xfrm>
            <a:off x="295275" y="2376487"/>
            <a:ext cx="11601450" cy="1038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0" b="1" i="0" u="none" strike="noStrike" cap="non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Thank You</a:t>
            </a:r>
            <a:endParaRPr/>
          </a:p>
        </p:txBody>
      </p:sp>
      <p:sp>
        <p:nvSpPr>
          <p:cNvPr id="211" name="Google Shape;211;p24"/>
          <p:cNvSpPr txBox="1"/>
          <p:nvPr/>
        </p:nvSpPr>
        <p:spPr>
          <a:xfrm>
            <a:off x="571500" y="3719512"/>
            <a:ext cx="11049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Questions?</a:t>
            </a:r>
            <a:endParaRPr/>
          </a:p>
        </p:txBody>
      </p:sp>
      <p:pic>
        <p:nvPicPr>
          <p:cNvPr id="2" name="object 5">
            <a:extLst>
              <a:ext uri="{FF2B5EF4-FFF2-40B4-BE49-F238E27FC236}">
                <a16:creationId xmlns:a16="http://schemas.microsoft.com/office/drawing/2014/main" id="{9D319DD8-AE45-A19B-AE83-A6D7FAFDEFC4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45852" y="488371"/>
            <a:ext cx="1374648" cy="8077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571</Words>
  <Application>Microsoft Office PowerPoint</Application>
  <PresentationFormat>Widescreen</PresentationFormat>
  <Paragraphs>55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Urbanist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Emma</dc:creator>
  <cp:lastModifiedBy>Emmanuel  Orunta</cp:lastModifiedBy>
  <cp:revision>2</cp:revision>
  <dcterms:modified xsi:type="dcterms:W3CDTF">2025-11-05T01:56:12Z</dcterms:modified>
</cp:coreProperties>
</file>